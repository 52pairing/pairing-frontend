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4592c290a4bfa" /><Relationship Type="http://schemas.openxmlformats.org/officeDocument/2006/relationships/extended-properties" Target="/docProps/app.xml" Id="Rbb53579f1b2d44a3" /><Relationship Type="http://schemas.openxmlformats.org/officeDocument/2006/relationships/officeDocument" Target="/ppt/presentation.xml" Id="Rb8e5ee8cab8c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e485ac003140e3"/>
  </p:sldMasterIdLst>
  <p:notesMasterIdLst>
    <p:notesMasterId xmlns:r="http://schemas.openxmlformats.org/officeDocument/2006/relationships" r:id="Rb4630fb3e33f4ff4"/>
  </p:notesMasterIdLst>
  <p:sldIdLst>
    <p:sldId xmlns:r="http://schemas.openxmlformats.org/officeDocument/2006/relationships" id="256" r:id="Rc3593425c188453d"/>
    <p:sldId xmlns:r="http://schemas.openxmlformats.org/officeDocument/2006/relationships" id="257" r:id="Rf72c5c36e649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598a53e564e97" /><Relationship Type="http://schemas.openxmlformats.org/officeDocument/2006/relationships/slideMaster" Target="/ppt/slideMasters/slideMaster1.xml" Id="Rfde485ac003140e3" /><Relationship Type="http://schemas.openxmlformats.org/officeDocument/2006/relationships/notesMaster" Target="/ppt/notesMasters/notesMaster1.xml" Id="Rb4630fb3e33f4ff4" /><Relationship Type="http://schemas.openxmlformats.org/officeDocument/2006/relationships/presProps" Target="/ppt/presProps.xml" Id="Rea676c6da03e465d" /><Relationship Type="http://schemas.openxmlformats.org/officeDocument/2006/relationships/tableStyles" Target="/ppt/tableStyles.xml" Id="Rabd023beab854fb0" /><Relationship Type="http://schemas.openxmlformats.org/officeDocument/2006/relationships/slide" Target="/ppt/slides/slide1.xml" Id="Rc3593425c188453d" /><Relationship Type="http://schemas.openxmlformats.org/officeDocument/2006/relationships/slide" Target="/ppt/slides/slide2.xml" Id="Rf72c5c36e649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c40410a11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59c7c24a140b2" /><Relationship Type="http://schemas.openxmlformats.org/officeDocument/2006/relationships/notesMaster" Target="/ppt/notesMasters/notesMaster1.xml" Id="R2ab88b9cf238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5a2e5590e246b9" /><Relationship Type="http://schemas.openxmlformats.org/officeDocument/2006/relationships/notesMaster" Target="/ppt/notesMasters/notesMaster1.xml" Id="Rc9c428041b2e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summary and local project work records,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summary and local project work records,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b562623174f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86758b3d3470e" /><Relationship Type="http://schemas.openxmlformats.org/officeDocument/2006/relationships/slideLayout" Target="/ppt/slideLayouts/slideLayout1.xml" Id="R839b226a3652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b226a3652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6d761b2ff4987" /><Relationship Type="http://schemas.openxmlformats.org/officeDocument/2006/relationships/notesSlide" Target="/ppt/notesSlides/notesSlide1.xml" Id="Rbcc735859cc7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cb5612ac4bb1" /><Relationship Type="http://schemas.openxmlformats.org/officeDocument/2006/relationships/notesSlide" Target="/ppt/notesSlides/notesSlide2.xml" Id="Rf1ca6b4eec4a48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1">
            <a:extLst xmlns:a="http://schemas.openxmlformats.org/drawingml/2006/main">
              <a:ext uri="{FF2B5EF4-FFF2-40B4-BE49-F238E27FC236}">
                <a16:creationId xmlns:a16="http://schemas.microsoft.com/office/drawing/2014/main" id="{03CC7241-C131-4F6E-99AA-D681FFF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&amp; DATA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515A166C-2EB9-4155-97FA-476ECED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사용자 정보를 네 번 불러오자, 화면이 느리고 깜빡였다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86311AE0-EBE7-47DC-A4BC-EBFC4F25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같은 정보를 한 번만 조회하고 모든 화면이 공유하도록 구조를 바꿨다</a:t>
            </a:r>
          </a:p>
        </p:txBody>
      </p:sp>
      <p:sp>
        <p:nvSpPr>
          <p:cNvPr id="4" name="rule-1">
            <a:extLst xmlns:a="http://schemas.openxmlformats.org/drawingml/2006/main">
              <a:ext uri="{FF2B5EF4-FFF2-40B4-BE49-F238E27FC236}">
                <a16:creationId xmlns:a16="http://schemas.microsoft.com/office/drawing/2014/main" id="{55E9E5B0-347B-44DF-B4C4-E7500C7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4E4A4B0B-52C7-464E-A5CE-49A7F75F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3-1. 프론트엔드 기능 구현 과정의 문제 해결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8D9F0E61-70C3-4F26-A693-779E5C4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1-arrow-line-1">
            <a:extLst xmlns:a="http://schemas.openxmlformats.org/drawingml/2006/main">
              <a:ext uri="{FF2B5EF4-FFF2-40B4-BE49-F238E27FC236}">
                <a16:creationId xmlns:a16="http://schemas.microsoft.com/office/drawing/2014/main" id="{8AF96D56-FCBE-4E24-888D-4AE0DD3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289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arrow-1">
            <a:extLst xmlns:a="http://schemas.openxmlformats.org/drawingml/2006/main">
              <a:ext uri="{FF2B5EF4-FFF2-40B4-BE49-F238E27FC236}">
                <a16:creationId xmlns:a16="http://schemas.microsoft.com/office/drawing/2014/main" id="{422B14B6-4435-4758-9044-62E2E67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43225"/>
            <a:ext cx="33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s1-arrow-line-2">
            <a:extLst xmlns:a="http://schemas.openxmlformats.org/drawingml/2006/main">
              <a:ext uri="{FF2B5EF4-FFF2-40B4-BE49-F238E27FC236}">
                <a16:creationId xmlns:a16="http://schemas.microsoft.com/office/drawing/2014/main" id="{0F5BC7B5-44FE-4983-B7AC-51AA8EB6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289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-arrow-2">
            <a:extLst xmlns:a="http://schemas.openxmlformats.org/drawingml/2006/main">
              <a:ext uri="{FF2B5EF4-FFF2-40B4-BE49-F238E27FC236}">
                <a16:creationId xmlns:a16="http://schemas.microsoft.com/office/drawing/2014/main" id="{2A99E17A-2470-44B3-A4CA-C89CDF17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43225"/>
            <a:ext cx="33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s1-step1">
            <a:extLst xmlns:a="http://schemas.openxmlformats.org/drawingml/2006/main">
              <a:ext uri="{FF2B5EF4-FFF2-40B4-BE49-F238E27FC236}">
                <a16:creationId xmlns:a16="http://schemas.microsoft.com/office/drawing/2014/main" id="{06DFFD04-AF0E-44EB-A838-F3437A69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  기존 문제</a:t>
            </a:r>
          </a:p>
        </p:txBody>
      </p:sp>
      <p:sp>
        <p:nvSpPr>
          <p:cNvPr id="12" name="s1-step2">
            <a:extLst xmlns:a="http://schemas.openxmlformats.org/drawingml/2006/main">
              <a:ext uri="{FF2B5EF4-FFF2-40B4-BE49-F238E27FC236}">
                <a16:creationId xmlns:a16="http://schemas.microsoft.com/office/drawing/2014/main" id="{E6CEE189-201F-49D9-B00E-C40A419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02  개선 방법</a:t>
            </a:r>
          </a:p>
        </p:txBody>
      </p:sp>
      <p:sp>
        <p:nvSpPr>
          <p:cNvPr id="13" name="s1-step3">
            <a:extLst xmlns:a="http://schemas.openxmlformats.org/drawingml/2006/main">
              <a:ext uri="{FF2B5EF4-FFF2-40B4-BE49-F238E27FC236}">
                <a16:creationId xmlns:a16="http://schemas.microsoft.com/office/drawing/2014/main" id="{87EED608-C52C-4D05-983E-5D2A13F9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03  예외 방어</a:t>
            </a:r>
          </a:p>
        </p:txBody>
      </p:sp>
      <p:sp>
        <p:nvSpPr>
          <p:cNvPr id="14" name="s1-problem">
            <a:extLst xmlns:a="http://schemas.openxmlformats.org/drawingml/2006/main">
              <a:ext uri="{FF2B5EF4-FFF2-40B4-BE49-F238E27FC236}">
                <a16:creationId xmlns:a16="http://schemas.microsoft.com/office/drawing/2014/main" id="{2785623B-9AF3-4E8D-B48F-792C7D14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0099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problem-title">
            <a:extLst xmlns:a="http://schemas.openxmlformats.org/drawingml/2006/main">
              <a:ext uri="{FF2B5EF4-FFF2-40B4-BE49-F238E27FC236}">
                <a16:creationId xmlns:a16="http://schemas.microsoft.com/office/drawing/2014/main" id="{4FFD88D7-EB85-42BA-B3F0-D01C3CB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한 화면에서 같은 요청 4번</a:t>
            </a:r>
          </a:p>
        </p:txBody>
      </p:sp>
      <p:sp>
        <p:nvSpPr>
          <p:cNvPr id="16" name="s1-problem-main">
            <a:extLst xmlns:a="http://schemas.openxmlformats.org/drawingml/2006/main">
              <a:ext uri="{FF2B5EF4-FFF2-40B4-BE49-F238E27FC236}">
                <a16:creationId xmlns:a16="http://schemas.microsoft.com/office/drawing/2014/main" id="{ADE97220-6EE1-4D7D-91FC-AEECDFE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4C4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4C4C"/>
                </a:solidFill>
                <a:latin typeface="Arial"/>
                <a:ea typeface="Arial"/>
                <a:cs typeface="Arial"/>
              </a:rPr>
              <a:t>4×  사용자 조회</a:t>
            </a:r>
          </a:p>
        </p:txBody>
      </p:sp>
      <p:sp>
        <p:nvSpPr>
          <p:cNvPr id="17" name="s1-problem-body">
            <a:extLst xmlns:a="http://schemas.openxmlformats.org/drawingml/2006/main">
              <a:ext uri="{FF2B5EF4-FFF2-40B4-BE49-F238E27FC236}">
                <a16:creationId xmlns:a16="http://schemas.microsoft.com/office/drawing/2014/main" id="{5A33F113-E742-4AC1-8FA7-09FE890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접근 권한 확인 · 역할 확인</a:t>
            </a:r>
          </a:p>
          <a:p xmlns:a="http://schemas.openxmlformats.org/drawingml/2006/main">
            <a:pPr algn="l">
              <a:defRPr sz="1200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헤더 · 본문이 각자 서버에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결과: 서버 호출 중복 +</a:t>
            </a:r>
          </a:p>
          <a:p xmlns:a="http://schemas.openxmlformats.org/drawingml/2006/main">
            <a:pPr algn="l">
              <a:defRPr sz="1200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‘프리랜서’가 실제 이름으로 바뀌며 깜빡임</a:t>
            </a:r>
          </a:p>
        </p:txBody>
      </p:sp>
      <p:sp>
        <p:nvSpPr>
          <p:cNvPr id="18" name="s1-share">
            <a:extLst xmlns:a="http://schemas.openxmlformats.org/drawingml/2006/main">
              <a:ext uri="{FF2B5EF4-FFF2-40B4-BE49-F238E27FC236}">
                <a16:creationId xmlns:a16="http://schemas.microsoft.com/office/drawing/2014/main" id="{378DBCB9-0319-43BC-992A-5D15005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3495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share-label">
            <a:extLst xmlns:a="http://schemas.openxmlformats.org/drawingml/2006/main">
              <a:ext uri="{FF2B5EF4-FFF2-40B4-BE49-F238E27FC236}">
                <a16:creationId xmlns:a16="http://schemas.microsoft.com/office/drawing/2014/main" id="{C4B1512A-1F9D-4F1C-88A8-F353234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한 번 조회한 결과를 함께 사용</a:t>
            </a:r>
          </a:p>
        </p:txBody>
      </p:sp>
      <p:sp>
        <p:nvSpPr>
          <p:cNvPr id="20" name="s1-share-main">
            <a:extLst xmlns:a="http://schemas.openxmlformats.org/drawingml/2006/main">
              <a:ext uri="{FF2B5EF4-FFF2-40B4-BE49-F238E27FC236}">
                <a16:creationId xmlns:a16="http://schemas.microsoft.com/office/drawing/2014/main" id="{125A017E-E0F2-492F-8764-A16E573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요청 1번 → 모든 화면에 전달</a:t>
            </a:r>
          </a:p>
        </p:txBody>
      </p:sp>
      <p:sp>
        <p:nvSpPr>
          <p:cNvPr id="21" name="s1-share-rule">
            <a:extLst xmlns:a="http://schemas.openxmlformats.org/drawingml/2006/main">
              <a:ext uri="{FF2B5EF4-FFF2-40B4-BE49-F238E27FC236}">
                <a16:creationId xmlns:a16="http://schemas.microsoft.com/office/drawing/2014/main" id="{A98738E7-48B0-4325-98F3-48CFD93C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052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-share-body">
            <a:extLst xmlns:a="http://schemas.openxmlformats.org/drawingml/2006/main">
              <a:ext uri="{FF2B5EF4-FFF2-40B4-BE49-F238E27FC236}">
                <a16:creationId xmlns:a16="http://schemas.microsoft.com/office/drawing/2014/main" id="{41704EBA-A1A6-4A8B-8F08-5574697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3857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이미 진행 중인 요청이 있으면 새 요청을 만들지 않고 기다림</a:t>
            </a:r>
          </a:p>
          <a:p xmlns:a="http://schemas.openxmlformats.org/drawingml/2006/main">
            <a:pPr algn="l">
              <a:defRPr sz="1200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완료된 결과는 5초 동안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결과: 중복 호출 제거 + 첫 화면부터 실제 이름 표시</a:t>
            </a:r>
          </a:p>
        </p:txBody>
      </p:sp>
      <p:sp>
        <p:nvSpPr>
          <p:cNvPr id="23" name="s1-generation">
            <a:extLst xmlns:a="http://schemas.openxmlformats.org/drawingml/2006/main">
              <a:ext uri="{FF2B5EF4-FFF2-40B4-BE49-F238E27FC236}">
                <a16:creationId xmlns:a16="http://schemas.microsoft.com/office/drawing/2014/main" id="{D1D6C0A4-02AF-4E32-A93C-CDE8309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31718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-gen-label">
            <a:extLst xmlns:a="http://schemas.openxmlformats.org/drawingml/2006/main">
              <a:ext uri="{FF2B5EF4-FFF2-40B4-BE49-F238E27FC236}">
                <a16:creationId xmlns:a16="http://schemas.microsoft.com/office/drawing/2014/main" id="{BC99EE8F-E0DD-4EA3-B824-20B1357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574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늦게 도착한 응답은 폐기</a:t>
            </a:r>
          </a:p>
        </p:txBody>
      </p:sp>
      <p:sp>
        <p:nvSpPr>
          <p:cNvPr id="25" name="s1-gen-main">
            <a:extLst xmlns:a="http://schemas.openxmlformats.org/drawingml/2006/main">
              <a:ext uri="{FF2B5EF4-FFF2-40B4-BE49-F238E27FC236}">
                <a16:creationId xmlns:a16="http://schemas.microsoft.com/office/drawing/2014/main" id="{307A1EB9-C851-45D5-B932-8C28D3F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05150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로그아웃 직전의 요청이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로그아웃 후 도착한다면?</a:t>
            </a:r>
          </a:p>
        </p:txBody>
      </p:sp>
      <p:sp>
        <p:nvSpPr>
          <p:cNvPr id="26" name="s1-gen-body">
            <a:extLst xmlns:a="http://schemas.openxmlformats.org/drawingml/2006/main">
              <a:ext uri="{FF2B5EF4-FFF2-40B4-BE49-F238E27FC236}">
                <a16:creationId xmlns:a16="http://schemas.microsoft.com/office/drawing/2014/main" id="{BEEF1CD8-849B-41FB-93F2-BA55053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433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로그인 상태가 바뀔 때마다 ‘요청 버전’을 올림</a:t>
            </a:r>
          </a:p>
          <a:p xmlns:a="http://schemas.openxmlformats.org/drawingml/2006/main">
            <a:pPr algn="l">
              <a:defRPr sz="1200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이전 버전의 응답은 저장하지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→ 이전 사용자가 다시 나타나는 문제 방지</a:t>
            </a:r>
          </a:p>
        </p:txBody>
      </p:sp>
      <p:sp>
        <p:nvSpPr>
          <p:cNvPr id="27" name="s1-takeaway">
            <a:extLst xmlns:a="http://schemas.openxmlformats.org/drawingml/2006/main">
              <a:ext uri="{FF2B5EF4-FFF2-40B4-BE49-F238E27FC236}">
                <a16:creationId xmlns:a16="http://schemas.microsoft.com/office/drawing/2014/main" id="{1C58D69D-CE6A-4086-9683-8BFD7A4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1-take-label">
            <a:extLst xmlns:a="http://schemas.openxmlformats.org/drawingml/2006/main">
              <a:ext uri="{FF2B5EF4-FFF2-40B4-BE49-F238E27FC236}">
                <a16:creationId xmlns:a16="http://schemas.microsoft.com/office/drawing/2014/main" id="{F97FF82B-B8EE-440D-95C2-997F9FC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핵심 판단</a:t>
            </a:r>
          </a:p>
        </p:txBody>
      </p:sp>
      <p:sp>
        <p:nvSpPr>
          <p:cNvPr id="29" name="s1-take-text">
            <a:extLst xmlns:a="http://schemas.openxmlformats.org/drawingml/2006/main">
              <a:ext uri="{FF2B5EF4-FFF2-40B4-BE49-F238E27FC236}">
                <a16:creationId xmlns:a16="http://schemas.microsoft.com/office/drawing/2014/main" id="{C0344E52-245B-4F31-AD1A-1B03872F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340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공유 캐시에는 저장 시간뿐 아니라, ‘언제 버릴지’에 대한 규칙도 필요하다.</a:t>
            </a:r>
          </a:p>
        </p:txBody>
      </p:sp>
      <p:sp>
        <p:nvSpPr>
          <p:cNvPr id="30" name="s1-status">
            <a:extLst xmlns:a="http://schemas.openxmlformats.org/drawingml/2006/main">
              <a:ext uri="{FF2B5EF4-FFF2-40B4-BE49-F238E27FC236}">
                <a16:creationId xmlns:a16="http://schemas.microsoft.com/office/drawing/2014/main" id="{B54296F8-4359-47A8-9CAE-9391C085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14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status-text">
            <a:extLst xmlns:a="http://schemas.openxmlformats.org/drawingml/2006/main">
              <a:ext uri="{FF2B5EF4-FFF2-40B4-BE49-F238E27FC236}">
                <a16:creationId xmlns:a16="http://schemas.microsoft.com/office/drawing/2014/main" id="{050917E4-7666-4E34-A9ED-CF10D42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197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핵심 구현 완료 · 추가 검증</a:t>
            </a:r>
          </a:p>
        </p:txBody>
      </p:sp>
    </p:spTree>
    <p:extLst>
      <p:ext uri="{BB962C8B-B14F-4D97-AF65-F5344CB8AC3E}">
        <p14:creationId xmlns:p14="http://schemas.microsoft.com/office/powerpoint/2010/main" val="1641377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2">
            <a:extLst xmlns:a="http://schemas.openxmlformats.org/drawingml/2006/main">
              <a:ext uri="{FF2B5EF4-FFF2-40B4-BE49-F238E27FC236}">
                <a16:creationId xmlns:a16="http://schemas.microsoft.com/office/drawing/2014/main" id="{423E5656-79FD-452B-866B-2EFE835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API RESPONSE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B98BC4B-63DD-4E08-BDF5-F1D668D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서버가 빈 값을 보내도 화면이 깨지지 않게 만들었다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B24434A-CE49-4EE9-8249-2706506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API 응답과 화면이 필요한 데이터가 다를 때, 중간 변환 단계에서 차이를 처리했다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7ABD137E-D2CA-4BDC-943B-306941DA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BB51AE08-2979-48D2-B680-14D0D764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3-1. 프론트엔드 기능 구현 과정의 문제 해결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370CF47-04AF-4D3C-98CB-C388C1C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2-arrow-line">
            <a:extLst xmlns:a="http://schemas.openxmlformats.org/drawingml/2006/main">
              <a:ext uri="{FF2B5EF4-FFF2-40B4-BE49-F238E27FC236}">
                <a16:creationId xmlns:a16="http://schemas.microsoft.com/office/drawing/2014/main" id="{B6722623-ADA5-4158-9B09-822F63E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43325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2-arrow">
            <a:extLst xmlns:a="http://schemas.openxmlformats.org/drawingml/2006/main">
              <a:ext uri="{FF2B5EF4-FFF2-40B4-BE49-F238E27FC236}">
                <a16:creationId xmlns:a16="http://schemas.microsoft.com/office/drawing/2014/main" id="{F3C46465-14D0-44AE-8C4A-EE950E5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4805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11B090C9-D666-4D4A-86C1-26FE5DC8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4C4C"/>
                </a:solidFill>
                <a:latin typeface="Arial"/>
                <a:ea typeface="Arial"/>
                <a:cs typeface="Arial"/>
              </a:rPr>
              <a:t>문제가 발생한 실제 사례</a:t>
            </a:r>
          </a:p>
        </p:txBody>
      </p:sp>
      <p:sp>
        <p:nvSpPr>
          <p:cNvPr id="10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03A2509B-8FAA-4BAC-ABCE-D6382F6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화면이 예상한 값 ≠ 서버가 준 값</a:t>
            </a:r>
          </a:p>
        </p:txBody>
      </p:sp>
      <p:sp>
        <p:nvSpPr>
          <p:cNvPr id="11" name="s2-left-panel">
            <a:extLst xmlns:a="http://schemas.openxmlformats.org/drawingml/2006/main">
              <a:ext uri="{FF2B5EF4-FFF2-40B4-BE49-F238E27FC236}">
                <a16:creationId xmlns:a16="http://schemas.microsoft.com/office/drawing/2014/main" id="{CD8F472F-6A77-4A1B-99A9-26D41753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4762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key-0">
            <a:extLst xmlns:a="http://schemas.openxmlformats.org/drawingml/2006/main">
              <a:ext uri="{FF2B5EF4-FFF2-40B4-BE49-F238E27FC236}">
                <a16:creationId xmlns:a16="http://schemas.microsoft.com/office/drawing/2014/main" id="{D990787A-EA18-45AB-95CA-CC2C2B0F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회사명</a:t>
            </a:r>
          </a:p>
        </p:txBody>
      </p:sp>
      <p:sp>
        <p:nvSpPr>
          <p:cNvPr id="13" name="s2-val-0">
            <a:extLst xmlns:a="http://schemas.openxmlformats.org/drawingml/2006/main">
              <a:ext uri="{FF2B5EF4-FFF2-40B4-BE49-F238E27FC236}">
                <a16:creationId xmlns:a16="http://schemas.microsoft.com/office/drawing/2014/main" id="{F9D65F39-D2E6-45DC-BE48-BC03F83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문자열로 예상했지만 null이 도착</a:t>
            </a:r>
          </a:p>
        </p:txBody>
      </p:sp>
      <p:sp>
        <p:nvSpPr>
          <p:cNvPr id="14" name="s2-row-rule-0">
            <a:extLst xmlns:a="http://schemas.openxmlformats.org/drawingml/2006/main">
              <a:ext uri="{FF2B5EF4-FFF2-40B4-BE49-F238E27FC236}">
                <a16:creationId xmlns:a16="http://schemas.microsoft.com/office/drawing/2014/main" id="{4F4A77E0-8651-41E6-B71C-23EBBB6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key-1">
            <a:extLst xmlns:a="http://schemas.openxmlformats.org/drawingml/2006/main">
              <a:ext uri="{FF2B5EF4-FFF2-40B4-BE49-F238E27FC236}">
                <a16:creationId xmlns:a16="http://schemas.microsoft.com/office/drawing/2014/main" id="{4A401C5B-F4D5-4D83-A8EE-8023367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상세 정보</a:t>
            </a:r>
          </a:p>
        </p:txBody>
      </p:sp>
      <p:sp>
        <p:nvSpPr>
          <p:cNvPr id="16" name="s2-val-1">
            <a:extLst xmlns:a="http://schemas.openxmlformats.org/drawingml/2006/main">
              <a:ext uri="{FF2B5EF4-FFF2-40B4-BE49-F238E27FC236}">
                <a16:creationId xmlns:a16="http://schemas.microsoft.com/office/drawing/2014/main" id="{64DC3FF0-3550-47D7-8AA6-D0D8D990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목록 응답의 null이 기존 값을 덮어씀</a:t>
            </a:r>
          </a:p>
        </p:txBody>
      </p:sp>
      <p:sp>
        <p:nvSpPr>
          <p:cNvPr id="17" name="s2-row-rule-1">
            <a:extLst xmlns:a="http://schemas.openxmlformats.org/drawingml/2006/main">
              <a:ext uri="{FF2B5EF4-FFF2-40B4-BE49-F238E27FC236}">
                <a16:creationId xmlns:a16="http://schemas.microsoft.com/office/drawing/2014/main" id="{D0DD1A97-03A9-46AA-8D14-BB39F696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key-2">
            <a:extLst xmlns:a="http://schemas.openxmlformats.org/drawingml/2006/main">
              <a:ext uri="{FF2B5EF4-FFF2-40B4-BE49-F238E27FC236}">
                <a16:creationId xmlns:a16="http://schemas.microsoft.com/office/drawing/2014/main" id="{BE3F0134-69EC-49DD-B500-B738C70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평점 · 개수</a:t>
            </a:r>
          </a:p>
        </p:txBody>
      </p:sp>
      <p:sp>
        <p:nvSpPr>
          <p:cNvPr id="19" name="s2-val-2">
            <a:extLst xmlns:a="http://schemas.openxmlformats.org/drawingml/2006/main">
              <a:ext uri="{FF2B5EF4-FFF2-40B4-BE49-F238E27FC236}">
                <a16:creationId xmlns:a16="http://schemas.microsoft.com/office/drawing/2014/main" id="{7E37B29A-53A5-40E5-86F9-472FD92A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값이 없는 정상 상태를 오류로 판단</a:t>
            </a:r>
          </a:p>
        </p:txBody>
      </p:sp>
      <p:sp>
        <p:nvSpPr>
          <p:cNvPr id="20" name="s2-row-rule-2">
            <a:extLst xmlns:a="http://schemas.openxmlformats.org/drawingml/2006/main">
              <a:ext uri="{FF2B5EF4-FFF2-40B4-BE49-F238E27FC236}">
                <a16:creationId xmlns:a16="http://schemas.microsoft.com/office/drawing/2014/main" id="{DE2FD0DE-8CFE-4A48-A919-C41A0C5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key-3">
            <a:extLst xmlns:a="http://schemas.openxmlformats.org/drawingml/2006/main">
              <a:ext uri="{FF2B5EF4-FFF2-40B4-BE49-F238E27FC236}">
                <a16:creationId xmlns:a16="http://schemas.microsoft.com/office/drawing/2014/main" id="{597A3511-60D1-44F3-874E-66417E96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금액</a:t>
            </a:r>
          </a:p>
        </p:txBody>
      </p:sp>
      <p:sp>
        <p:nvSpPr>
          <p:cNvPr id="22" name="s2-val-3">
            <a:extLst xmlns:a="http://schemas.openxmlformats.org/drawingml/2006/main">
              <a:ext uri="{FF2B5EF4-FFF2-40B4-BE49-F238E27FC236}">
                <a16:creationId xmlns:a16="http://schemas.microsoft.com/office/drawing/2014/main" id="{136709F4-E694-43E0-B0FA-D54C24B8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910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문자열 변환 실패 시 NaN 노출</a:t>
            </a:r>
          </a:p>
        </p:txBody>
      </p:sp>
      <p:sp>
        <p:nvSpPr>
          <p:cNvPr id="23" name="s2-row-rule-3">
            <a:extLst xmlns:a="http://schemas.openxmlformats.org/drawingml/2006/main">
              <a:ext uri="{FF2B5EF4-FFF2-40B4-BE49-F238E27FC236}">
                <a16:creationId xmlns:a16="http://schemas.microsoft.com/office/drawing/2014/main" id="{B10493D1-1C0B-4742-B8B2-C7868B5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2-key-4">
            <a:extLst xmlns:a="http://schemas.openxmlformats.org/drawingml/2006/main">
              <a:ext uri="{FF2B5EF4-FFF2-40B4-BE49-F238E27FC236}">
                <a16:creationId xmlns:a16="http://schemas.microsoft.com/office/drawing/2014/main" id="{C77F193A-8563-4D3A-8029-339C70FF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계약 상태</a:t>
            </a:r>
          </a:p>
        </p:txBody>
      </p:sp>
      <p:sp>
        <p:nvSpPr>
          <p:cNvPr id="25" name="s2-val-4">
            <a:extLst xmlns:a="http://schemas.openxmlformats.org/drawingml/2006/main">
              <a:ext uri="{FF2B5EF4-FFF2-40B4-BE49-F238E27FC236}">
                <a16:creationId xmlns:a16="http://schemas.microsoft.com/office/drawing/2014/main" id="{E60697C8-F5FD-4239-B9E8-E7EF9A6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서버 기준과 화면 필터 기준이 다름</a:t>
            </a:r>
          </a:p>
        </p:txBody>
      </p:sp>
      <p:sp>
        <p:nvSpPr>
          <p:cNvPr id="26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C1F7B324-6F34-4CA0-AB27-A2CC0EC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해결 방법</a:t>
            </a:r>
          </a:p>
        </p:txBody>
      </p:sp>
      <p:sp>
        <p:nvSpPr>
          <p:cNvPr id="27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2825FCFB-D150-4746-A967-39915B3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API와 화면 사이에 변환 단계를 둠</a:t>
            </a:r>
          </a:p>
        </p:txBody>
      </p:sp>
      <p:sp>
        <p:nvSpPr>
          <p:cNvPr id="28" name="s2-right-panel">
            <a:extLst xmlns:a="http://schemas.openxmlformats.org/drawingml/2006/main">
              <a:ext uri="{FF2B5EF4-FFF2-40B4-BE49-F238E27FC236}">
                <a16:creationId xmlns:a16="http://schemas.microsoft.com/office/drawing/2014/main" id="{392F74DF-DEE4-4DCE-A5AC-1E90BF7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2-transform">
            <a:extLst xmlns:a="http://schemas.openxmlformats.org/drawingml/2006/main">
              <a:ext uri="{FF2B5EF4-FFF2-40B4-BE49-F238E27FC236}">
                <a16:creationId xmlns:a16="http://schemas.microsoft.com/office/drawing/2014/main" id="{53165873-4785-4CCF-A869-A5E07E5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① null이 올 수 있음을 타입에 표시</a:t>
            </a:r>
          </a:p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② 값이 없을 때 보여줄 문구 결정</a:t>
            </a:r>
          </a:p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③ 목록의 null은 기존 상세값을 보존</a:t>
            </a:r>
          </a:p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④ 숫자 변환에 실패하면 안전한 값 표시</a:t>
            </a:r>
          </a:p>
        </p:txBody>
      </p:sp>
      <p:sp>
        <p:nvSpPr>
          <p:cNvPr id="30" name="s2-policy">
            <a:extLst xmlns:a="http://schemas.openxmlformats.org/drawingml/2006/main">
              <a:ext uri="{FF2B5EF4-FFF2-40B4-BE49-F238E27FC236}">
                <a16:creationId xmlns:a16="http://schemas.microsoft.com/office/drawing/2014/main" id="{F6F2E4B4-C324-4FE4-A590-2010E29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서버 상태 기준이 불명확하면 임의로 추측하지 않고</a:t>
            </a:r>
          </a:p>
          <a:p xmlns:a="http://schemas.openxmlformats.org/drawingml/2006/main">
            <a:pPr algn="l">
              <a:defRPr sz="1200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백엔드 확인 후 화면 필터에 반영</a:t>
            </a:r>
          </a:p>
        </p:txBody>
      </p:sp>
      <p:sp>
        <p:nvSpPr>
          <p:cNvPr id="31" name="s2-contract">
            <a:extLst xmlns:a="http://schemas.openxmlformats.org/drawingml/2006/main">
              <a:ext uri="{FF2B5EF4-FFF2-40B4-BE49-F238E27FC236}">
                <a16:creationId xmlns:a16="http://schemas.microsoft.com/office/drawing/2014/main" id="{45E114E0-93FD-4496-90A9-E498805E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054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2-contract-label">
            <a:extLst xmlns:a="http://schemas.openxmlformats.org/drawingml/2006/main">
              <a:ext uri="{FF2B5EF4-FFF2-40B4-BE49-F238E27FC236}">
                <a16:creationId xmlns:a16="http://schemas.microsoft.com/office/drawing/2014/main" id="{C270F3BF-866E-42A1-B2E3-41BACF8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57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33" name="s2-contract-text">
            <a:extLst xmlns:a="http://schemas.openxmlformats.org/drawingml/2006/main">
              <a:ext uri="{FF2B5EF4-FFF2-40B4-BE49-F238E27FC236}">
                <a16:creationId xmlns:a16="http://schemas.microsoft.com/office/drawing/2014/main" id="{04418C47-B021-4B69-A755-6580C7E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67350"/>
            <a:ext cx="464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7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빈 값이나 응답 변경이 있어도 화면 전체가 깨지지 않고, 의미 있는 상태로 표시된다.</a:t>
            </a:r>
          </a:p>
        </p:txBody>
      </p:sp>
    </p:spTree>
    <p:extLst>
      <p:ext uri="{BB962C8B-B14F-4D97-AF65-F5344CB8AC3E}">
        <p14:creationId xmlns:p14="http://schemas.microsoft.com/office/powerpoint/2010/main" val="51342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2026-08-17T15:57:41.8350000Z</dcterms:created>
  <dcterms:modified xsi:type="dcterms:W3CDTF">2026-08-17T15:57:41.8350000Z</dcterms:modified>
</coreProperties>
</file>