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a5085c93af4587" /><Relationship Type="http://schemas.openxmlformats.org/officeDocument/2006/relationships/extended-properties" Target="/docProps/app.xml" Id="Rd12df06a9c294853" /><Relationship Type="http://schemas.openxmlformats.org/officeDocument/2006/relationships/officeDocument" Target="/ppt/presentation.xml" Id="R67107fadeb1249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9e9f79aa894eff"/>
  </p:sldMasterIdLst>
  <p:notesMasterIdLst>
    <p:notesMasterId xmlns:r="http://schemas.openxmlformats.org/officeDocument/2006/relationships" r:id="R5d417dedc5564f29"/>
  </p:notesMasterIdLst>
  <p:sldIdLst>
    <p:sldId xmlns:r="http://schemas.openxmlformats.org/officeDocument/2006/relationships" id="256" r:id="R545e3b8301294414"/>
    <p:sldId xmlns:r="http://schemas.openxmlformats.org/officeDocument/2006/relationships" id="257" r:id="R9aa30a6e08e84e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4c590071434b10" /><Relationship Type="http://schemas.openxmlformats.org/officeDocument/2006/relationships/slideMaster" Target="/ppt/slideMasters/slideMaster1.xml" Id="R729e9f79aa894eff" /><Relationship Type="http://schemas.openxmlformats.org/officeDocument/2006/relationships/notesMaster" Target="/ppt/notesMasters/notesMaster1.xml" Id="R5d417dedc5564f29" /><Relationship Type="http://schemas.openxmlformats.org/officeDocument/2006/relationships/presProps" Target="/ppt/presProps.xml" Id="R7c1aa1f7361b4971" /><Relationship Type="http://schemas.openxmlformats.org/officeDocument/2006/relationships/tableStyles" Target="/ppt/tableStyles.xml" Id="Rd1a1efaef05d4ff1" /><Relationship Type="http://schemas.openxmlformats.org/officeDocument/2006/relationships/slide" Target="/ppt/slides/slide1.xml" Id="R545e3b8301294414" /><Relationship Type="http://schemas.openxmlformats.org/officeDocument/2006/relationships/slide" Target="/ppt/slides/slide2.xml" Id="R9aa30a6e08e84e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8ba7f6b6ce49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001db6c45d497b" /><Relationship Type="http://schemas.openxmlformats.org/officeDocument/2006/relationships/notesMaster" Target="/ppt/notesMasters/notesMaster1.xml" Id="Rf38e9686cbc34f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21dbaf12bb4599" /><Relationship Type="http://schemas.openxmlformats.org/officeDocument/2006/relationships/notesMaster" Target="/ppt/notesMasters/notesMaster1.xml" Id="R69b9c40e29b749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summary and local project work records, 2026-08-18.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summary and local project work records, 2026-08-18.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4fa4d8774b4a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557e58e49c4ca9" /><Relationship Type="http://schemas.openxmlformats.org/officeDocument/2006/relationships/slideLayout" Target="/ppt/slideLayouts/slideLayout1.xml" Id="Rfbe3157ed71444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e3157ed71444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950d733b34467" /><Relationship Type="http://schemas.openxmlformats.org/officeDocument/2006/relationships/notesSlide" Target="/ppt/notesSlides/notesSlide1.xml" Id="Rb0ea3e95898240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cbfd4471a4b71" /><Relationship Type="http://schemas.openxmlformats.org/officeDocument/2006/relationships/notesSlide" Target="/ppt/notesSlides/notesSlide2.xml" Id="R49627e15ff2b43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-1">
            <a:extLst xmlns:a="http://schemas.openxmlformats.org/drawingml/2006/main">
              <a:ext uri="{FF2B5EF4-FFF2-40B4-BE49-F238E27FC236}">
                <a16:creationId xmlns:a16="http://schemas.microsoft.com/office/drawing/2014/main" id="{38BD9A2E-CD27-4F3E-802C-D3D4A3A7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STATE &amp; DATA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84F1D029-FC2B-4CF9-A1BD-EED6C4CA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한 번만 조회하고, 낡은 응답은 버린다</a:t>
            </a:r>
          </a:p>
        </p:txBody>
      </p:sp>
      <p:sp>
        <p:nvSpPr>
          <p:cNvPr id="3" name="subtitle-1">
            <a:extLst xmlns:a="http://schemas.openxmlformats.org/drawingml/2006/main">
              <a:ext uri="{FF2B5EF4-FFF2-40B4-BE49-F238E27FC236}">
                <a16:creationId xmlns:a16="http://schemas.microsoft.com/office/drawing/2014/main" id="{47F7BC10-0E47-4018-8D2F-7B8D6731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16F"/>
                </a:solidFill>
                <a:latin typeface="Arial"/>
                <a:ea typeface="Arial"/>
                <a:cs typeface="Arial"/>
              </a:rPr>
              <a:t>중복 /auth/me 호출과 사용자명 깜빡임을 하나의 세션 데이터 흐름으로 해결</a:t>
            </a:r>
          </a:p>
        </p:txBody>
      </p:sp>
      <p:sp>
        <p:nvSpPr>
          <p:cNvPr id="4" name="rule-1">
            <a:extLst xmlns:a="http://schemas.openxmlformats.org/drawingml/2006/main">
              <a:ext uri="{FF2B5EF4-FFF2-40B4-BE49-F238E27FC236}">
                <a16:creationId xmlns:a16="http://schemas.microsoft.com/office/drawing/2014/main" id="{7BB67FB6-4A37-44CB-995A-7FA895A8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859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">
            <a:extLst xmlns:a="http://schemas.openxmlformats.org/drawingml/2006/main">
              <a:ext uri="{FF2B5EF4-FFF2-40B4-BE49-F238E27FC236}">
                <a16:creationId xmlns:a16="http://schemas.microsoft.com/office/drawing/2014/main" id="{282A6E08-7F19-494B-B9B4-3757AFFC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919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A919C"/>
                </a:solidFill>
                <a:latin typeface="Arial"/>
                <a:ea typeface="Arial"/>
                <a:cs typeface="Arial"/>
              </a:rPr>
              <a:t>3-1. 프론트엔드 기능 구현 과정의 문제 해결</a:t>
            </a:r>
          </a:p>
        </p:txBody>
      </p:sp>
      <p:sp>
        <p:nvSpPr>
          <p:cNvPr id="6" name="page-1">
            <a:extLst xmlns:a="http://schemas.openxmlformats.org/drawingml/2006/main">
              <a:ext uri="{FF2B5EF4-FFF2-40B4-BE49-F238E27FC236}">
                <a16:creationId xmlns:a16="http://schemas.microsoft.com/office/drawing/2014/main" id="{9478B3D5-AC17-469A-A0DF-E733A483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919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A919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1-arrow-line-1">
            <a:extLst xmlns:a="http://schemas.openxmlformats.org/drawingml/2006/main">
              <a:ext uri="{FF2B5EF4-FFF2-40B4-BE49-F238E27FC236}">
                <a16:creationId xmlns:a16="http://schemas.microsoft.com/office/drawing/2014/main" id="{4B36530D-9503-4617-93D1-7DF07677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289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1-arrow-1">
            <a:extLst xmlns:a="http://schemas.openxmlformats.org/drawingml/2006/main">
              <a:ext uri="{FF2B5EF4-FFF2-40B4-BE49-F238E27FC236}">
                <a16:creationId xmlns:a16="http://schemas.microsoft.com/office/drawing/2014/main" id="{9B55AAA9-10B5-4152-BCB0-48CC4433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43225"/>
            <a:ext cx="33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s1-arrow-line-2">
            <a:extLst xmlns:a="http://schemas.openxmlformats.org/drawingml/2006/main">
              <a:ext uri="{FF2B5EF4-FFF2-40B4-BE49-F238E27FC236}">
                <a16:creationId xmlns:a16="http://schemas.microsoft.com/office/drawing/2014/main" id="{8D180313-EC72-4EFD-9BB4-14898E7F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289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-arrow-2">
            <a:extLst xmlns:a="http://schemas.openxmlformats.org/drawingml/2006/main">
              <a:ext uri="{FF2B5EF4-FFF2-40B4-BE49-F238E27FC236}">
                <a16:creationId xmlns:a16="http://schemas.microsoft.com/office/drawing/2014/main" id="{EC2FAF34-3A11-47CC-9F2B-F09E7F1A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943225"/>
            <a:ext cx="33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" name="s1-step1">
            <a:extLst xmlns:a="http://schemas.openxmlformats.org/drawingml/2006/main">
              <a:ext uri="{FF2B5EF4-FFF2-40B4-BE49-F238E27FC236}">
                <a16:creationId xmlns:a16="http://schemas.microsoft.com/office/drawing/2014/main" id="{EE2BEFCE-6B6B-4E98-8F88-276C702F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919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A919C"/>
                </a:solidFill>
                <a:latin typeface="Arial"/>
                <a:ea typeface="Arial"/>
                <a:cs typeface="Arial"/>
              </a:rPr>
              <a:t>01  문제</a:t>
            </a:r>
          </a:p>
        </p:txBody>
      </p:sp>
      <p:sp>
        <p:nvSpPr>
          <p:cNvPr id="12" name="s1-step2">
            <a:extLst xmlns:a="http://schemas.openxmlformats.org/drawingml/2006/main">
              <a:ext uri="{FF2B5EF4-FFF2-40B4-BE49-F238E27FC236}">
                <a16:creationId xmlns:a16="http://schemas.microsoft.com/office/drawing/2014/main" id="{899DA738-6443-4CA6-A3CF-93E09945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00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919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A919C"/>
                </a:solidFill>
                <a:latin typeface="Arial"/>
                <a:ea typeface="Arial"/>
                <a:cs typeface="Arial"/>
              </a:rPr>
              <a:t>02  공유</a:t>
            </a:r>
          </a:p>
        </p:txBody>
      </p:sp>
      <p:sp>
        <p:nvSpPr>
          <p:cNvPr id="13" name="s1-step3">
            <a:extLst xmlns:a="http://schemas.openxmlformats.org/drawingml/2006/main">
              <a:ext uri="{FF2B5EF4-FFF2-40B4-BE49-F238E27FC236}">
                <a16:creationId xmlns:a16="http://schemas.microsoft.com/office/drawing/2014/main" id="{8DF613BE-D6AB-435D-BE90-CC65DDA5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00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919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A919C"/>
                </a:solidFill>
                <a:latin typeface="Arial"/>
                <a:ea typeface="Arial"/>
                <a:cs typeface="Arial"/>
              </a:rPr>
              <a:t>03  무효화</a:t>
            </a:r>
          </a:p>
        </p:txBody>
      </p:sp>
      <p:sp>
        <p:nvSpPr>
          <p:cNvPr id="14" name="s1-problem">
            <a:extLst xmlns:a="http://schemas.openxmlformats.org/drawingml/2006/main">
              <a:ext uri="{FF2B5EF4-FFF2-40B4-BE49-F238E27FC236}">
                <a16:creationId xmlns:a16="http://schemas.microsoft.com/office/drawing/2014/main" id="{05805E3D-160A-4C25-AAB8-23D10232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30099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1-problem-title">
            <a:extLst xmlns:a="http://schemas.openxmlformats.org/drawingml/2006/main">
              <a:ext uri="{FF2B5EF4-FFF2-40B4-BE49-F238E27FC236}">
                <a16:creationId xmlns:a16="http://schemas.microsoft.com/office/drawing/2014/main" id="{CDE46595-9DBD-4308-A445-7680B297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보호 페이지 1회 진입</a:t>
            </a:r>
          </a:p>
        </p:txBody>
      </p:sp>
      <p:sp>
        <p:nvSpPr>
          <p:cNvPr id="16" name="s1-problem-main">
            <a:extLst xmlns:a="http://schemas.openxmlformats.org/drawingml/2006/main">
              <a:ext uri="{FF2B5EF4-FFF2-40B4-BE49-F238E27FC236}">
                <a16:creationId xmlns:a16="http://schemas.microsoft.com/office/drawing/2014/main" id="{639BE4BD-BC82-4175-A38E-E6A58888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D84C4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D84C4C"/>
                </a:solidFill>
                <a:latin typeface="Arial"/>
                <a:ea typeface="Arial"/>
                <a:cs typeface="Arial"/>
              </a:rPr>
              <a:t>4×  /auth/me</a:t>
            </a:r>
          </a:p>
        </p:txBody>
      </p:sp>
      <p:sp>
        <p:nvSpPr>
          <p:cNvPr id="17" name="s1-problem-body">
            <a:extLst xmlns:a="http://schemas.openxmlformats.org/drawingml/2006/main">
              <a:ext uri="{FF2B5EF4-FFF2-40B4-BE49-F238E27FC236}">
                <a16:creationId xmlns:a16="http://schemas.microsoft.com/office/drawing/2014/main" id="{787F79FE-C4C9-4385-813E-D08D02BD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2514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55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5562"/>
                </a:solidFill>
                <a:latin typeface="Arial"/>
                <a:ea typeface="Arial"/>
                <a:cs typeface="Arial"/>
              </a:rPr>
              <a:t>세션 가드 · 역할 가드</a:t>
            </a:r>
          </a:p>
          <a:p xmlns:a="http://schemas.openxmlformats.org/drawingml/2006/main">
            <a:pPr algn="l">
              <a:defRPr sz="1275" b="0">
                <a:solidFill>
                  <a:srgbClr val="4D55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5562"/>
                </a:solidFill>
                <a:latin typeface="Arial"/>
                <a:ea typeface="Arial"/>
                <a:cs typeface="Arial"/>
              </a:rPr>
              <a:t>헤더 · 본문이 각각 조회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4D55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5562"/>
                </a:solidFill>
                <a:latin typeface="Arial"/>
                <a:ea typeface="Arial"/>
                <a:cs typeface="Arial"/>
              </a:rPr>
              <a:t>요청 중복 + 이름 깜빡임</a:t>
            </a:r>
          </a:p>
        </p:txBody>
      </p:sp>
      <p:sp>
        <p:nvSpPr>
          <p:cNvPr id="18" name="s1-share">
            <a:extLst xmlns:a="http://schemas.openxmlformats.org/drawingml/2006/main">
              <a:ext uri="{FF2B5EF4-FFF2-40B4-BE49-F238E27FC236}">
                <a16:creationId xmlns:a16="http://schemas.microsoft.com/office/drawing/2014/main" id="{CCDA2C5C-D38F-4831-A17A-0F845260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19350"/>
            <a:ext cx="349567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1-share-label">
            <a:extLst xmlns:a="http://schemas.openxmlformats.org/drawingml/2006/main">
              <a:ext uri="{FF2B5EF4-FFF2-40B4-BE49-F238E27FC236}">
                <a16:creationId xmlns:a16="http://schemas.microsoft.com/office/drawing/2014/main" id="{ECC8536A-6D9D-41FB-A63F-E4382135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574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SINGLE SOURCE OF TRUTH</a:t>
            </a:r>
          </a:p>
        </p:txBody>
      </p:sp>
      <p:sp>
        <p:nvSpPr>
          <p:cNvPr id="20" name="s1-share-main">
            <a:extLst xmlns:a="http://schemas.openxmlformats.org/drawingml/2006/main">
              <a:ext uri="{FF2B5EF4-FFF2-40B4-BE49-F238E27FC236}">
                <a16:creationId xmlns:a16="http://schemas.microsoft.com/office/drawing/2014/main" id="{925D767B-E910-4C44-A7A2-7A535609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진행 중 요청 + 5초 캐시</a:t>
            </a:r>
          </a:p>
        </p:txBody>
      </p:sp>
      <p:sp>
        <p:nvSpPr>
          <p:cNvPr id="21" name="s1-share-rule">
            <a:extLst xmlns:a="http://schemas.openxmlformats.org/drawingml/2006/main">
              <a:ext uri="{FF2B5EF4-FFF2-40B4-BE49-F238E27FC236}">
                <a16:creationId xmlns:a16="http://schemas.microsoft.com/office/drawing/2014/main" id="{D57784D0-2D86-423C-9C8A-8B358809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05225"/>
            <a:ext cx="300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-share-body">
            <a:extLst xmlns:a="http://schemas.openxmlformats.org/drawingml/2006/main">
              <a:ext uri="{FF2B5EF4-FFF2-40B4-BE49-F238E27FC236}">
                <a16:creationId xmlns:a16="http://schemas.microsoft.com/office/drawing/2014/main" id="{765CC447-8006-4AA6-82FD-DFBCA7C6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0525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15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150"/>
                </a:solidFill>
                <a:latin typeface="Arial"/>
                <a:ea typeface="Arial"/>
                <a:cs typeface="Arial"/>
              </a:rPr>
              <a:t>가드가 확인한 사용자를</a:t>
            </a:r>
          </a:p>
          <a:p xmlns:a="http://schemas.openxmlformats.org/drawingml/2006/main">
            <a:pPr algn="l">
              <a:defRPr sz="1275" b="0">
                <a:solidFill>
                  <a:srgbClr val="34415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150"/>
                </a:solidFill>
                <a:latin typeface="Arial"/>
                <a:ea typeface="Arial"/>
                <a:cs typeface="Arial"/>
              </a:rPr>
              <a:t>하위 컴포넌트의 동기 초기값으로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34415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150"/>
                </a:solidFill>
                <a:latin typeface="Arial"/>
                <a:ea typeface="Arial"/>
                <a:cs typeface="Arial"/>
              </a:rPr>
              <a:t>중복 호출 ↓   깜빡임 ↓</a:t>
            </a:r>
          </a:p>
        </p:txBody>
      </p:sp>
      <p:sp>
        <p:nvSpPr>
          <p:cNvPr id="23" name="s1-generation">
            <a:extLst xmlns:a="http://schemas.openxmlformats.org/drawingml/2006/main">
              <a:ext uri="{FF2B5EF4-FFF2-40B4-BE49-F238E27FC236}">
                <a16:creationId xmlns:a16="http://schemas.microsoft.com/office/drawing/2014/main" id="{FA811C4C-2588-41AC-B554-E96200B9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19350"/>
            <a:ext cx="317182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1-gen-label">
            <a:extLst xmlns:a="http://schemas.openxmlformats.org/drawingml/2006/main">
              <a:ext uri="{FF2B5EF4-FFF2-40B4-BE49-F238E27FC236}">
                <a16:creationId xmlns:a16="http://schemas.microsoft.com/office/drawing/2014/main" id="{87A80E48-E5EF-42C9-8CF4-6759B182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574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GENERATION GUARD</a:t>
            </a:r>
          </a:p>
        </p:txBody>
      </p:sp>
      <p:sp>
        <p:nvSpPr>
          <p:cNvPr id="25" name="s1-gen-main">
            <a:extLst xmlns:a="http://schemas.openxmlformats.org/drawingml/2006/main">
              <a:ext uri="{FF2B5EF4-FFF2-40B4-BE49-F238E27FC236}">
                <a16:creationId xmlns:a16="http://schemas.microsoft.com/office/drawing/2014/main" id="{C9BACAB7-68AA-4110-B2EB-CC0E9DBD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05150"/>
            <a:ext cx="2686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로그인 · 로그아웃 · 탈퇴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cacheGeneration +1</a:t>
            </a:r>
          </a:p>
        </p:txBody>
      </p:sp>
      <p:sp>
        <p:nvSpPr>
          <p:cNvPr id="26" name="s1-gen-body">
            <a:extLst xmlns:a="http://schemas.openxmlformats.org/drawingml/2006/main">
              <a:ext uri="{FF2B5EF4-FFF2-40B4-BE49-F238E27FC236}">
                <a16:creationId xmlns:a16="http://schemas.microsoft.com/office/drawing/2014/main" id="{D9FD8961-CA49-4C00-A1FC-BA34DFF0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09575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6E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6EFFF"/>
                </a:solidFill>
                <a:latin typeface="Arial"/>
                <a:ea typeface="Arial"/>
                <a:cs typeface="Arial"/>
              </a:rPr>
              <a:t>이전 요청 generation ≠ 현재</a:t>
            </a:r>
          </a:p>
          <a:p xmlns:a="http://schemas.openxmlformats.org/drawingml/2006/main">
            <a:pPr algn="l">
              <a:defRPr sz="1275" b="1">
                <a:solidFill>
                  <a:srgbClr val="D6E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6EFFF"/>
                </a:solidFill>
                <a:latin typeface="Arial"/>
                <a:ea typeface="Arial"/>
                <a:cs typeface="Arial"/>
              </a:rPr>
              <a:t>→ 늦은 응답의 cache write 무시</a:t>
            </a:r>
          </a:p>
        </p:txBody>
      </p:sp>
      <p:sp>
        <p:nvSpPr>
          <p:cNvPr id="27" name="s1-takeaway">
            <a:extLst xmlns:a="http://schemas.openxmlformats.org/drawingml/2006/main">
              <a:ext uri="{FF2B5EF4-FFF2-40B4-BE49-F238E27FC236}">
                <a16:creationId xmlns:a16="http://schemas.microsoft.com/office/drawing/2014/main" id="{A038568D-5C1B-43E4-A49A-5E759BE7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87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s1-take-label">
            <a:extLst xmlns:a="http://schemas.openxmlformats.org/drawingml/2006/main">
              <a:ext uri="{FF2B5EF4-FFF2-40B4-BE49-F238E27FC236}">
                <a16:creationId xmlns:a16="http://schemas.microsoft.com/office/drawing/2014/main" id="{ABAB443E-DF4E-43CB-8941-1B2AEA63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핵심 판단</a:t>
            </a:r>
          </a:p>
        </p:txBody>
      </p:sp>
      <p:sp>
        <p:nvSpPr>
          <p:cNvPr id="29" name="s1-take-text">
            <a:extLst xmlns:a="http://schemas.openxmlformats.org/drawingml/2006/main">
              <a:ext uri="{FF2B5EF4-FFF2-40B4-BE49-F238E27FC236}">
                <a16:creationId xmlns:a16="http://schemas.microsoft.com/office/drawing/2014/main" id="{00970852-02DF-46D3-A619-DFA91EAC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534025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캐시는 보관 시간보다 무효화 시점과 늦은 응답의 폐기 기준이 중요하다.</a:t>
            </a:r>
          </a:p>
        </p:txBody>
      </p:sp>
      <p:sp>
        <p:nvSpPr>
          <p:cNvPr id="30" name="s1-status">
            <a:extLst xmlns:a="http://schemas.openxmlformats.org/drawingml/2006/main">
              <a:ext uri="{FF2B5EF4-FFF2-40B4-BE49-F238E27FC236}">
                <a16:creationId xmlns:a16="http://schemas.microsoft.com/office/drawing/2014/main" id="{6C0C18DE-D9FA-4921-8B27-B2AE3ACD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5149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1-status-text">
            <a:extLst xmlns:a="http://schemas.openxmlformats.org/drawingml/2006/main">
              <a:ext uri="{FF2B5EF4-FFF2-40B4-BE49-F238E27FC236}">
                <a16:creationId xmlns:a16="http://schemas.microsoft.com/office/drawing/2014/main" id="{B662CF6A-F63A-48D5-8198-77F05F5E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6197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5A00"/>
                </a:solidFill>
                <a:latin typeface="Arial"/>
                <a:ea typeface="Arial"/>
                <a:cs typeface="Arial"/>
              </a:rPr>
              <a:t>경쟁 순서 추가 검증</a:t>
            </a:r>
          </a:p>
        </p:txBody>
      </p:sp>
    </p:spTree>
    <p:extLst>
      <p:ext uri="{BB962C8B-B14F-4D97-AF65-F5344CB8AC3E}">
        <p14:creationId xmlns:p14="http://schemas.microsoft.com/office/powerpoint/2010/main" val="18829487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-2">
            <a:extLst xmlns:a="http://schemas.openxmlformats.org/drawingml/2006/main">
              <a:ext uri="{FF2B5EF4-FFF2-40B4-BE49-F238E27FC236}">
                <a16:creationId xmlns:a16="http://schemas.microsoft.com/office/drawing/2014/main" id="{40FF1440-9C91-4E0F-BABA-F676B803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API CONTRACT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D07D2CAA-897D-4190-9FB2-6DC5F1D8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API 응답을 그대로 믿지 않고, 화면이 안전하게 해석한다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38FAA227-10A1-4A09-8A6F-1DFF8E39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16F"/>
                </a:solidFill>
                <a:latin typeface="Arial"/>
                <a:ea typeface="Arial"/>
                <a:cs typeface="Arial"/>
              </a:rPr>
              <a:t>nullable·스펙 변경·서버 상태 차이를 UI 경계에서 흡수</a:t>
            </a:r>
          </a:p>
        </p:txBody>
      </p:sp>
      <p:sp>
        <p:nvSpPr>
          <p:cNvPr id="4" name="rule-2">
            <a:extLst xmlns:a="http://schemas.openxmlformats.org/drawingml/2006/main">
              <a:ext uri="{FF2B5EF4-FFF2-40B4-BE49-F238E27FC236}">
                <a16:creationId xmlns:a16="http://schemas.microsoft.com/office/drawing/2014/main" id="{D9690EDC-2C8C-4DCA-AED0-29CCD71A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859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F044C871-6B62-46F3-BD07-E37BB48D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919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A919C"/>
                </a:solidFill>
                <a:latin typeface="Arial"/>
                <a:ea typeface="Arial"/>
                <a:cs typeface="Arial"/>
              </a:rPr>
              <a:t>3-1. 프론트엔드 기능 구현 과정의 문제 해결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A839C76B-F6E1-4B3C-8986-1F3FB461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919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A919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s2-arrow-line">
            <a:extLst xmlns:a="http://schemas.openxmlformats.org/drawingml/2006/main">
              <a:ext uri="{FF2B5EF4-FFF2-40B4-BE49-F238E27FC236}">
                <a16:creationId xmlns:a16="http://schemas.microsoft.com/office/drawing/2014/main" id="{15988B7D-9EF1-4A11-B3BD-A1C30B7B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43325"/>
            <a:ext cx="1000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2-arrow">
            <a:extLst xmlns:a="http://schemas.openxmlformats.org/drawingml/2006/main">
              <a:ext uri="{FF2B5EF4-FFF2-40B4-BE49-F238E27FC236}">
                <a16:creationId xmlns:a16="http://schemas.microsoft.com/office/drawing/2014/main" id="{C892D96F-C518-419D-BE12-017158BA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448050"/>
            <a:ext cx="361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s2-left-label">
            <a:extLst xmlns:a="http://schemas.openxmlformats.org/drawingml/2006/main">
              <a:ext uri="{FF2B5EF4-FFF2-40B4-BE49-F238E27FC236}">
                <a16:creationId xmlns:a16="http://schemas.microsoft.com/office/drawing/2014/main" id="{2B43032D-0680-44E9-A5CF-C340BA5B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4C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84C4C"/>
                </a:solidFill>
                <a:latin typeface="Arial"/>
                <a:ea typeface="Arial"/>
                <a:cs typeface="Arial"/>
              </a:rPr>
              <a:t>RAW API RESPONSE</a:t>
            </a:r>
          </a:p>
        </p:txBody>
      </p:sp>
      <p:sp>
        <p:nvSpPr>
          <p:cNvPr id="10" name="s2-left-title">
            <a:extLst xmlns:a="http://schemas.openxmlformats.org/drawingml/2006/main">
              <a:ext uri="{FF2B5EF4-FFF2-40B4-BE49-F238E27FC236}">
                <a16:creationId xmlns:a16="http://schemas.microsoft.com/office/drawing/2014/main" id="{BEAB5DBD-F6C0-4774-ACFB-5FE59D2D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실제 응답의 불확실성</a:t>
            </a:r>
          </a:p>
        </p:txBody>
      </p:sp>
      <p:sp>
        <p:nvSpPr>
          <p:cNvPr id="11" name="s2-left-panel">
            <a:extLst xmlns:a="http://schemas.openxmlformats.org/drawingml/2006/main">
              <a:ext uri="{FF2B5EF4-FFF2-40B4-BE49-F238E27FC236}">
                <a16:creationId xmlns:a16="http://schemas.microsoft.com/office/drawing/2014/main" id="{23DE8475-6EDD-46DA-ADFE-8A0FB2ED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47625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2-key-0">
            <a:extLst xmlns:a="http://schemas.openxmlformats.org/drawingml/2006/main">
              <a:ext uri="{FF2B5EF4-FFF2-40B4-BE49-F238E27FC236}">
                <a16:creationId xmlns:a16="http://schemas.microsoft.com/office/drawing/2014/main" id="{5D25EBF0-E60A-456A-8D2F-F4E848C2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companyName</a:t>
            </a:r>
          </a:p>
        </p:txBody>
      </p:sp>
      <p:sp>
        <p:nvSpPr>
          <p:cNvPr id="13" name="s2-val-0">
            <a:extLst xmlns:a="http://schemas.openxmlformats.org/drawingml/2006/main">
              <a:ext uri="{FF2B5EF4-FFF2-40B4-BE49-F238E27FC236}">
                <a16:creationId xmlns:a16="http://schemas.microsoft.com/office/drawing/2014/main" id="{3915C1EA-8575-4E59-874E-8B855235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05150"/>
            <a:ext cx="2809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6F"/>
                </a:solidFill>
                <a:latin typeface="Arial"/>
                <a:ea typeface="Arial"/>
                <a:cs typeface="Arial"/>
              </a:rPr>
              <a:t>필수 문자열 가정 → 실제 null</a:t>
            </a:r>
          </a:p>
        </p:txBody>
      </p:sp>
      <p:sp>
        <p:nvSpPr>
          <p:cNvPr id="14" name="s2-row-rule-0">
            <a:extLst xmlns:a="http://schemas.openxmlformats.org/drawingml/2006/main">
              <a:ext uri="{FF2B5EF4-FFF2-40B4-BE49-F238E27FC236}">
                <a16:creationId xmlns:a16="http://schemas.microsoft.com/office/drawing/2014/main" id="{EF3C645B-5968-4361-B9F8-B8AD0B4C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4267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2-key-1">
            <a:extLst xmlns:a="http://schemas.openxmlformats.org/drawingml/2006/main">
              <a:ext uri="{FF2B5EF4-FFF2-40B4-BE49-F238E27FC236}">
                <a16:creationId xmlns:a16="http://schemas.microsoft.com/office/drawing/2014/main" id="{6C7DD54F-CBC0-4F48-BC83-FCA5A6AC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detail fields</a:t>
            </a:r>
          </a:p>
        </p:txBody>
      </p:sp>
      <p:sp>
        <p:nvSpPr>
          <p:cNvPr id="16" name="s2-val-1">
            <a:extLst xmlns:a="http://schemas.openxmlformats.org/drawingml/2006/main">
              <a:ext uri="{FF2B5EF4-FFF2-40B4-BE49-F238E27FC236}">
                <a16:creationId xmlns:a16="http://schemas.microsoft.com/office/drawing/2014/main" id="{4BC560FC-83F3-4120-8122-CC716885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600450"/>
            <a:ext cx="2809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6F"/>
                </a:solidFill>
                <a:latin typeface="Arial"/>
                <a:ea typeface="Arial"/>
                <a:cs typeface="Arial"/>
              </a:rPr>
              <a:t>목록 응답에서 null → 기존 값 소실</a:t>
            </a:r>
          </a:p>
        </p:txBody>
      </p:sp>
      <p:sp>
        <p:nvSpPr>
          <p:cNvPr id="17" name="s2-row-rule-1">
            <a:extLst xmlns:a="http://schemas.openxmlformats.org/drawingml/2006/main">
              <a:ext uri="{FF2B5EF4-FFF2-40B4-BE49-F238E27FC236}">
                <a16:creationId xmlns:a16="http://schemas.microsoft.com/office/drawing/2014/main" id="{C709B441-090A-4DBA-9DCD-DB5EA96C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4267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2-key-2">
            <a:extLst xmlns:a="http://schemas.openxmlformats.org/drawingml/2006/main">
              <a:ext uri="{FF2B5EF4-FFF2-40B4-BE49-F238E27FC236}">
                <a16:creationId xmlns:a16="http://schemas.microsoft.com/office/drawing/2014/main" id="{4C0996FA-B670-42C5-B653-E9536DFE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rating / count</a:t>
            </a:r>
          </a:p>
        </p:txBody>
      </p:sp>
      <p:sp>
        <p:nvSpPr>
          <p:cNvPr id="19" name="s2-val-2">
            <a:extLst xmlns:a="http://schemas.openxmlformats.org/drawingml/2006/main">
              <a:ext uri="{FF2B5EF4-FFF2-40B4-BE49-F238E27FC236}">
                <a16:creationId xmlns:a16="http://schemas.microsoft.com/office/drawing/2014/main" id="{FA75D45D-68B1-4391-8DF2-1550C0B1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95750"/>
            <a:ext cx="2809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6F"/>
                </a:solidFill>
                <a:latin typeface="Arial"/>
                <a:ea typeface="Arial"/>
                <a:cs typeface="Arial"/>
              </a:rPr>
              <a:t>null을 오류 상태로 처리</a:t>
            </a:r>
          </a:p>
        </p:txBody>
      </p:sp>
      <p:sp>
        <p:nvSpPr>
          <p:cNvPr id="20" name="s2-row-rule-2">
            <a:extLst xmlns:a="http://schemas.openxmlformats.org/drawingml/2006/main">
              <a:ext uri="{FF2B5EF4-FFF2-40B4-BE49-F238E27FC236}">
                <a16:creationId xmlns:a16="http://schemas.microsoft.com/office/drawing/2014/main" id="{614C836F-A478-4B19-8149-45CA43FA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4267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2-key-3">
            <a:extLst xmlns:a="http://schemas.openxmlformats.org/drawingml/2006/main">
              <a:ext uri="{FF2B5EF4-FFF2-40B4-BE49-F238E27FC236}">
                <a16:creationId xmlns:a16="http://schemas.microsoft.com/office/drawing/2014/main" id="{1F5B922A-F129-4236-BAB7-90DED452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amount</a:t>
            </a:r>
          </a:p>
        </p:txBody>
      </p:sp>
      <p:sp>
        <p:nvSpPr>
          <p:cNvPr id="22" name="s2-val-3">
            <a:extLst xmlns:a="http://schemas.openxmlformats.org/drawingml/2006/main">
              <a:ext uri="{FF2B5EF4-FFF2-40B4-BE49-F238E27FC236}">
                <a16:creationId xmlns:a16="http://schemas.microsoft.com/office/drawing/2014/main" id="{120EB36C-292F-42C4-9EC6-F5F360C5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91050"/>
            <a:ext cx="2809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6F"/>
                </a:solidFill>
                <a:latin typeface="Arial"/>
                <a:ea typeface="Arial"/>
                <a:cs typeface="Arial"/>
              </a:rPr>
              <a:t>변환 실패 시 NaN 노출 가능</a:t>
            </a:r>
          </a:p>
        </p:txBody>
      </p:sp>
      <p:sp>
        <p:nvSpPr>
          <p:cNvPr id="23" name="s2-row-rule-3">
            <a:extLst xmlns:a="http://schemas.openxmlformats.org/drawingml/2006/main">
              <a:ext uri="{FF2B5EF4-FFF2-40B4-BE49-F238E27FC236}">
                <a16:creationId xmlns:a16="http://schemas.microsoft.com/office/drawing/2014/main" id="{D31F85D4-915E-47BD-A2EC-DA553280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267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2-key-4">
            <a:extLst xmlns:a="http://schemas.openxmlformats.org/drawingml/2006/main">
              <a:ext uri="{FF2B5EF4-FFF2-40B4-BE49-F238E27FC236}">
                <a16:creationId xmlns:a16="http://schemas.microsoft.com/office/drawing/2014/main" id="{131562D0-55C9-489D-ACEB-0811EF4A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contract status</a:t>
            </a:r>
          </a:p>
        </p:txBody>
      </p:sp>
      <p:sp>
        <p:nvSpPr>
          <p:cNvPr id="25" name="s2-val-4">
            <a:extLst xmlns:a="http://schemas.openxmlformats.org/drawingml/2006/main">
              <a:ext uri="{FF2B5EF4-FFF2-40B4-BE49-F238E27FC236}">
                <a16:creationId xmlns:a16="http://schemas.microsoft.com/office/drawing/2014/main" id="{836EC7C1-FA30-4F51-BFFD-F4861855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86350"/>
            <a:ext cx="2809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16F"/>
                </a:solidFill>
                <a:latin typeface="Arial"/>
                <a:ea typeface="Arial"/>
                <a:cs typeface="Arial"/>
              </a:rPr>
              <a:t>서버 기준 ≠ 프론트 임시 필터</a:t>
            </a:r>
          </a:p>
        </p:txBody>
      </p:sp>
      <p:sp>
        <p:nvSpPr>
          <p:cNvPr id="26" name="s2-right-label">
            <a:extLst xmlns:a="http://schemas.openxmlformats.org/drawingml/2006/main">
              <a:ext uri="{FF2B5EF4-FFF2-40B4-BE49-F238E27FC236}">
                <a16:creationId xmlns:a16="http://schemas.microsoft.com/office/drawing/2014/main" id="{CC0B60FD-B722-462B-8221-0A0BB2C6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002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UI ADAPTER BOUNDARY</a:t>
            </a:r>
          </a:p>
        </p:txBody>
      </p:sp>
      <p:sp>
        <p:nvSpPr>
          <p:cNvPr id="27" name="s2-right-title">
            <a:extLst xmlns:a="http://schemas.openxmlformats.org/drawingml/2006/main">
              <a:ext uri="{FF2B5EF4-FFF2-40B4-BE49-F238E27FC236}">
                <a16:creationId xmlns:a16="http://schemas.microsoft.com/office/drawing/2014/main" id="{BC70E670-90AA-47AD-A972-53783C09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화면용 안전 모델로 변환</a:t>
            </a:r>
          </a:p>
        </p:txBody>
      </p:sp>
      <p:sp>
        <p:nvSpPr>
          <p:cNvPr id="28" name="s2-right-panel">
            <a:extLst xmlns:a="http://schemas.openxmlformats.org/drawingml/2006/main">
              <a:ext uri="{FF2B5EF4-FFF2-40B4-BE49-F238E27FC236}">
                <a16:creationId xmlns:a16="http://schemas.microsoft.com/office/drawing/2014/main" id="{630EC6FD-0261-46C5-8286-76E5EB08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76550"/>
            <a:ext cx="5143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2-transform">
            <a:extLst xmlns:a="http://schemas.openxmlformats.org/drawingml/2006/main">
              <a:ext uri="{FF2B5EF4-FFF2-40B4-BE49-F238E27FC236}">
                <a16:creationId xmlns:a16="http://schemas.microsoft.com/office/drawing/2014/main" id="{F580352E-6502-41D6-9F00-804C483B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71825"/>
            <a:ext cx="4476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nullable 타입 반영</a:t>
            </a:r>
          </a:p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기본값 · 보존값 · 표시 형식 결정</a:t>
            </a:r>
          </a:p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서버 필터 기준 확인 후 화면 상태 매핑</a:t>
            </a:r>
          </a:p>
        </p:txBody>
      </p:sp>
      <p:sp>
        <p:nvSpPr>
          <p:cNvPr id="30" name="s2-policy">
            <a:extLst xmlns:a="http://schemas.openxmlformats.org/drawingml/2006/main">
              <a:ext uri="{FF2B5EF4-FFF2-40B4-BE49-F238E27FC236}">
                <a16:creationId xmlns:a16="http://schemas.microsoft.com/office/drawing/2014/main" id="{30082DAF-7632-4225-9290-F28E4A2C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719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15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150"/>
                </a:solidFill>
                <a:latin typeface="Arial"/>
                <a:ea typeface="Arial"/>
                <a:cs typeface="Arial"/>
              </a:rPr>
              <a:t>확인되지 않은 필드는 추측하지 않고</a:t>
            </a:r>
          </a:p>
          <a:p xmlns:a="http://schemas.openxmlformats.org/drawingml/2006/main">
            <a:pPr algn="l">
              <a:defRPr sz="1275" b="0">
                <a:solidFill>
                  <a:srgbClr val="34415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150"/>
                </a:solidFill>
                <a:latin typeface="Arial"/>
                <a:ea typeface="Arial"/>
                <a:cs typeface="Arial"/>
              </a:rPr>
              <a:t>백엔드 응답을 확인한 뒤 반영</a:t>
            </a:r>
          </a:p>
        </p:txBody>
      </p:sp>
      <p:sp>
        <p:nvSpPr>
          <p:cNvPr id="31" name="s2-contract">
            <a:extLst xmlns:a="http://schemas.openxmlformats.org/drawingml/2006/main">
              <a:ext uri="{FF2B5EF4-FFF2-40B4-BE49-F238E27FC236}">
                <a16:creationId xmlns:a16="http://schemas.microsoft.com/office/drawing/2014/main" id="{05689AF9-F533-47C8-B1FD-4C26580A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05400"/>
            <a:ext cx="514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2-contract-label">
            <a:extLst xmlns:a="http://schemas.openxmlformats.org/drawingml/2006/main">
              <a:ext uri="{FF2B5EF4-FFF2-40B4-BE49-F238E27FC236}">
                <a16:creationId xmlns:a16="http://schemas.microsoft.com/office/drawing/2014/main" id="{4901483C-A751-4EC1-9F6A-2E3887E6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578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TYPE = CONTRACT</a:t>
            </a:r>
          </a:p>
        </p:txBody>
      </p:sp>
      <p:sp>
        <p:nvSpPr>
          <p:cNvPr id="33" name="s2-contract-text">
            <a:extLst xmlns:a="http://schemas.openxmlformats.org/drawingml/2006/main">
              <a:ext uri="{FF2B5EF4-FFF2-40B4-BE49-F238E27FC236}">
                <a16:creationId xmlns:a16="http://schemas.microsoft.com/office/drawing/2014/main" id="{C1386761-AF67-4926-8A05-184E9BBF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67350"/>
            <a:ext cx="464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3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타입은 문서 복사가 아니라, 불확실성을 안전하게 처리하는 계약이다.</a:t>
            </a:r>
          </a:p>
        </p:txBody>
      </p:sp>
    </p:spTree>
    <p:extLst>
      <p:ext uri="{BB962C8B-B14F-4D97-AF65-F5344CB8AC3E}">
        <p14:creationId xmlns:p14="http://schemas.microsoft.com/office/powerpoint/2010/main" val="14481952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2026-08-17T15:47:00.2380000Z</dcterms:created>
  <dcterms:modified xsi:type="dcterms:W3CDTF">2026-08-17T15:47:00.2380000Z</dcterms:modified>
</coreProperties>
</file>